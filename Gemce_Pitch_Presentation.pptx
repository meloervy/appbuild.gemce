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mc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749807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Gemce</a:t>
            </a:r>
          </a:p>
          <a:p>
            <a:pPr>
              <a:spcBef>
                <a:spcPts val="800"/>
              </a:spcBef>
              <a:defRPr sz="2200" b="1">
                <a:solidFill>
                  <a:srgbClr val="3DDC84"/>
                </a:solidFill>
                <a:latin typeface="Arial"/>
              </a:defRPr>
            </a:pPr>
            <a:r>
              <a:t>AI study buddy that works anywhere you go.</a:t>
            </a:r>
          </a:p>
          <a:p>
            <a:pPr>
              <a:spcBef>
                <a:spcPts val="1400"/>
              </a:spcBef>
              <a:defRPr sz="1400">
                <a:solidFill>
                  <a:srgbClr val="A5AFBE"/>
                </a:solidFill>
                <a:latin typeface="Arial"/>
              </a:defRPr>
            </a:pPr>
            <a:r>
              <a:t>The 100% offline, privacy-first Android study platform powered by on-device Google Gemma 4 E2B via LiteRT-LM. Eliminating the connectivity divide in education.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828800" cy="38404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DCE6F5"/>
                </a:solidFill>
                <a:latin typeface="Arial"/>
              </a:defRPr>
            </a:pPr>
            <a:r>
              <a:t>🔒 100% Offline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0048" y="4846320"/>
            <a:ext cx="1828800" cy="38404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DCE6F5"/>
                </a:solidFill>
                <a:latin typeface="Arial"/>
              </a:defRPr>
            </a:pPr>
            <a:r>
              <a:t>⚡ Gemma 4 E2B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8576" y="4846320"/>
            <a:ext cx="1828800" cy="38404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DCE6F5"/>
                </a:solidFill>
                <a:latin typeface="Arial"/>
              </a:defRPr>
            </a:pPr>
            <a:r>
              <a:t>📚 Verbatim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7104" y="4846320"/>
            <a:ext cx="1828800" cy="38404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DCE6F5"/>
                </a:solidFill>
                <a:latin typeface="Arial"/>
              </a:defRPr>
            </a:pPr>
            <a:r>
              <a:t>🧠 SuperMemo SM-2</a:t>
            </a:r>
          </a:p>
        </p:txBody>
      </p:sp>
      <p:pic>
        <p:nvPicPr>
          <p:cNvPr id="9" name="Picture 8" descr="01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731520"/>
            <a:ext cx="2615184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DDC84"/>
                </a:solidFill>
                <a:latin typeface="Arial"/>
              </a:defRPr>
            </a:pPr>
            <a:r>
              <a:t>01 · 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Why Cloud AI Fails — And How Gemce Solves It</a:t>
            </a:r>
          </a:p>
          <a:p>
            <a:pPr>
              <a:spcBef>
                <a:spcPts val="400"/>
              </a:spcBef>
              <a:defRPr sz="1300">
                <a:solidFill>
                  <a:srgbClr val="A5AFBE"/>
                </a:solidFill>
                <a:latin typeface="Arial"/>
              </a:defRPr>
            </a:pPr>
            <a:r>
              <a:t>Eliminating connectivity barriers, recurring paywalls, and privacy risks.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749039"/>
          </a:xfrm>
          <a:prstGeom prst="roundRect">
            <a:avLst/>
          </a:prstGeom>
          <a:solidFill>
            <a:srgbClr val="1C1418"/>
          </a:solidFill>
          <a:ln w="12700">
            <a:solidFill>
              <a:srgbClr val="50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87171"/>
                </a:solidFill>
                <a:latin typeface="Arial"/>
              </a:defRPr>
            </a:pPr>
            <a:r>
              <a:t>❌ The Problem: Cloud AI Limitations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Fails in Airplane Mode: Cloud AI drops immediately in transit, dorms, or rural areas.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Cost Barriers: $20/month subscriptions lock out everyday students.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Privacy Concerns: Uploads private notes and school materials to cloud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3749039"/>
          </a:xfrm>
          <a:prstGeom prst="roundRect">
            <a:avLst/>
          </a:prstGeom>
          <a:solidFill>
            <a:srgbClr val="121E1A"/>
          </a:solidFill>
          <a:ln w="12700">
            <a:solidFill>
              <a:srgbClr val="23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DDC84"/>
                </a:solidFill>
                <a:latin typeface="Arial"/>
              </a:defRPr>
            </a:pPr>
            <a:r>
              <a:t>✅ The Solution: Gemce On-Device AI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100% Local Inference: Runs Google Gemma 4 on-device with zero data connection.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Free &amp; Sovereign: No subscriptions, no telemetry, and complete data privacy.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Verifiable Proof: Every card and question cites exact sentences from student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989320"/>
            <a:ext cx="10698480" cy="502920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DE3B5"/>
                </a:solidFill>
              </a:defRPr>
            </a:pPr>
            <a:r>
              <a:t>💡 Fundamental Principle: Quality academic assistance should never depend on mobile data or costly subscriptions.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DDC84"/>
                </a:solidFill>
                <a:latin typeface="Arial"/>
              </a:defRPr>
            </a:pPr>
            <a:r>
              <a:t>02 · ADAPTIVE STUDY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Personalized Study Paths Tailored to Your Goals</a:t>
            </a:r>
          </a:p>
          <a:p>
            <a:pPr>
              <a:spcBef>
                <a:spcPts val="400"/>
              </a:spcBef>
              <a:defRPr sz="1300">
                <a:solidFill>
                  <a:srgbClr val="A5AFBE"/>
                </a:solidFill>
                <a:latin typeface="Arial"/>
              </a:defRPr>
            </a:pPr>
            <a:r>
              <a:t>Diagnoses student intent and calibrates academic rigor, grade levels, and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Goal-Oriented Learning Modes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Diagnoses study intent: Rapid Recall, Exam Practice, Deep Problem Solving, or Reviewers.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Automatically prescribes optimal study formats based on topic familiarity.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🎓 Academic Level &amp; Major Calibration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Calibrates technical depth from Junior/Senior High tracks to specialized College majors.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Tailors difficulty for Accountancy, Nursing, Engineering, CS, and Humanities.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🌐 Multilingual Academic Mentoring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Speaks English, Filipino (Tagalog), Taglish, and Cebuano (Bisaya).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Explains tough concepts in the student's natural, conversational tongue.</a:t>
            </a:r>
          </a:p>
        </p:txBody>
      </p:sp>
      <p:pic>
        <p:nvPicPr>
          <p:cNvPr id="8" name="Picture 7" descr="02_study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97280"/>
            <a:ext cx="26060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DDC84"/>
                </a:solidFill>
                <a:latin typeface="Arial"/>
              </a:defRPr>
            </a:pPr>
            <a:r>
              <a:t>03 · ACTIVE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Evidence-Grounded Flashcards with SuperMemo SM-2</a:t>
            </a:r>
          </a:p>
          <a:p>
            <a:pPr>
              <a:spcBef>
                <a:spcPts val="400"/>
              </a:spcBef>
              <a:defRPr sz="1300">
                <a:solidFill>
                  <a:srgbClr val="A5AFBE"/>
                </a:solidFill>
                <a:latin typeface="Arial"/>
              </a:defRPr>
            </a:pPr>
            <a:r>
              <a:t>Spaced repetition paired with zero-hallucination source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🧠 SuperMemo SM-2 Spaced Repetition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Dynamically schedules review intervals (Again, Hard, Good, Easy).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Optimizes long-term memory retention before examinations.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12064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🚫 Strict Anti-Hallucination Prompts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Forbids generic meta-questions like 'What did the user intend to study?'.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Tests concrete academic mechanisms: Mitochondria, ATP synthesis, rock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📖 Verbatim Source Provenance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Highlights verbatim source sentences on the card back.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Guarantees 100% factual accuracy with zero AI hallucinations.</a:t>
            </a:r>
          </a:p>
        </p:txBody>
      </p:sp>
      <p:pic>
        <p:nvPicPr>
          <p:cNvPr id="8" name="Picture 7" descr="04_card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2560320" cy="5303520"/>
          </a:xfrm>
          <a:prstGeom prst="rect">
            <a:avLst/>
          </a:prstGeom>
        </p:spPr>
      </p:pic>
      <p:pic>
        <p:nvPicPr>
          <p:cNvPr id="9" name="Picture 8" descr="05_card_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097280"/>
            <a:ext cx="2560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DDC84"/>
                </a:solidFill>
                <a:latin typeface="Arial"/>
              </a:defRPr>
            </a:pPr>
            <a:r>
              <a:t>04 · EXAM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Interactive Practice Quizzes &amp; Instant Evaluation</a:t>
            </a:r>
          </a:p>
          <a:p>
            <a:pPr>
              <a:spcBef>
                <a:spcPts val="400"/>
              </a:spcBef>
              <a:defRPr sz="1300">
                <a:solidFill>
                  <a:srgbClr val="A5AFBE"/>
                </a:solidFill>
                <a:latin typeface="Arial"/>
              </a:defRPr>
            </a:pPr>
            <a:r>
              <a:t>4-option MCQs with instant scoring and explanatory rationales.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4-Option Multiple Choice Assessments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Rigorous MCQs testing conceptual mastery and analytical discrimination.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Challenges students to apply principles rather than passively re-read.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12064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⚡ Instant Grading &amp; Rationale Explanations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Instantly highlights incorrect selections in red and correct choices in teal.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Explanatory rationale box details the exact conceptual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📚 100% Material Grounding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Every question, distractor, and rationale derives directly from student notes.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Eliminates invalid test keys and erroneous study facts.</a:t>
            </a:r>
          </a:p>
        </p:txBody>
      </p:sp>
      <p:pic>
        <p:nvPicPr>
          <p:cNvPr id="8" name="Picture 7" descr="06_quiz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2560320" cy="5303520"/>
          </a:xfrm>
          <a:prstGeom prst="rect">
            <a:avLst/>
          </a:prstGeom>
        </p:spPr>
      </p:pic>
      <p:pic>
        <p:nvPicPr>
          <p:cNvPr id="9" name="Picture 8" descr="07_quiz_che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097280"/>
            <a:ext cx="2560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DDC84"/>
                </a:solidFill>
                <a:latin typeface="Arial"/>
              </a:defRPr>
            </a:pPr>
            <a:r>
              <a:t>05 · INTERACTIVE TUTORING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Real-Time Academic Mentor in Airplane Mode</a:t>
            </a:r>
          </a:p>
          <a:p>
            <a:pPr>
              <a:spcBef>
                <a:spcPts val="400"/>
              </a:spcBef>
              <a:defRPr sz="1300">
                <a:solidFill>
                  <a:srgbClr val="A5AFBE"/>
                </a:solidFill>
                <a:latin typeface="Arial"/>
              </a:defRPr>
            </a:pPr>
            <a:r>
              <a:t>On-device conversational AI explaining complex mechanisms on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🌍 Universal Multidisciplinary Grounding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Mentors across STEM, Calculus, Discrete Math, History, Rizal, Law, and Medicine.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Unpacks tough mechanisms with step-by-step conceptual walkthroughs.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📑 Rich Markdown &amp; Code Formatting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Native Jetpack Compose formatting with tables, bulleted lists, and formulas.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Clean visual hierarchy avoids overwhelming walls of plain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💾 Multi-Session Local Memory &amp; Tabs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Conversation history persisted securely on device with quick topic tabs.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Complete data privacy: student questions never leave device memory.</a:t>
            </a:r>
          </a:p>
        </p:txBody>
      </p:sp>
      <p:pic>
        <p:nvPicPr>
          <p:cNvPr id="8" name="Picture 7" descr="08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97280"/>
            <a:ext cx="26060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162D22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DDC84"/>
                </a:solidFill>
                <a:latin typeface="Arial"/>
              </a:defRPr>
            </a:pPr>
            <a:r>
              <a:t>06 · ARCHITECTURE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Engineered for Performance, Ready to Deploy</a:t>
            </a:r>
          </a:p>
          <a:p>
            <a:pPr>
              <a:spcBef>
                <a:spcPts val="400"/>
              </a:spcBef>
              <a:defRPr sz="1300">
                <a:solidFill>
                  <a:srgbClr val="A5AFBE"/>
                </a:solidFill>
                <a:latin typeface="Arial"/>
              </a:defRPr>
            </a:pPr>
            <a:r>
              <a:t>Native Android architecture powered by Google LiteRT-LM and open-source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🤖 Google LiteRT-LM &amp; Gemma 4 E2B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Quantized 2.4 GB weights executed on-device with OpenCL / Adreno GPU acceleration.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Sub-second latency with smooth streaming generation entirely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🎨 Native Jetpack Compose &amp; Offline Room DB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100% modern Kotlin with Material 3 and packaged typography (Calibri, Serif, Mono).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Offline OCR via ML Kit v2 and pure local PDF ingestion.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766560" cy="1234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📲 Shipped MVP &amp; Public GitHub Distribution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Verified on Android 14 hardware (OPPO Reno12 F 5G).</a:t>
            </a:r>
          </a:p>
          <a:p>
            <a:pPr>
              <a:spcAft>
                <a:spcPts val="300"/>
              </a:spcAft>
              <a:defRPr sz="1150">
                <a:solidFill>
                  <a:srgbClr val="A5AFBE"/>
                </a:solidFill>
                <a:latin typeface="Arial"/>
              </a:defRPr>
            </a:pPr>
            <a:r>
              <a:t>• Public Repository: github.com/meloervy/appbuild.gemce with installable APK.</a:t>
            </a:r>
          </a:p>
        </p:txBody>
      </p:sp>
      <p:pic>
        <p:nvPicPr>
          <p:cNvPr id="8" name="Picture 7" descr="09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97280"/>
            <a:ext cx="2606040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