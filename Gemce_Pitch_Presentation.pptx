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mc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286000"/>
            <a:ext cx="7315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Gemce</a:t>
            </a:r>
          </a:p>
          <a:p>
            <a:pPr>
              <a:spcBef>
                <a:spcPts val="800"/>
              </a:spcBef>
              <a:defRPr sz="2200" b="1">
                <a:solidFill>
                  <a:srgbClr val="3DDC84"/>
                </a:solidFill>
                <a:latin typeface="Arial"/>
              </a:defRPr>
            </a:pPr>
            <a:r>
              <a:t>AI study buddy that works anywhere you go.</a:t>
            </a:r>
          </a:p>
          <a:p>
            <a:pPr>
              <a:spcBef>
                <a:spcPts val="1400"/>
              </a:spcBef>
              <a:defRPr sz="1400">
                <a:solidFill>
                  <a:srgbClr val="A5AFBE"/>
                </a:solidFill>
                <a:latin typeface="Arial"/>
              </a:defRPr>
            </a:pPr>
            <a:r>
              <a:t>The 100% offline, privacy-first Android study platform powered by on-device Google Gemma 4 E2B via LiteRT-LM. Eliminating the connectivity divide in education.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2011680" cy="384048"/>
          </a:xfrm>
          <a:prstGeom prst="roundRect">
            <a:avLst/>
          </a:prstGeom>
          <a:solidFill>
            <a:srgbClr val="1A1F2A"/>
          </a:solidFill>
          <a:ln w="1270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>
                <a:solidFill>
                  <a:srgbClr val="DCE6F5"/>
                </a:solidFill>
                <a:latin typeface="Arial"/>
              </a:defRPr>
            </a:pPr>
            <a:r>
              <a:t>🔒 100% Offline &amp; Private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4846320"/>
            <a:ext cx="2011680" cy="384048"/>
          </a:xfrm>
          <a:prstGeom prst="roundRect">
            <a:avLst/>
          </a:prstGeom>
          <a:solidFill>
            <a:srgbClr val="1A1F2A"/>
          </a:solidFill>
          <a:ln w="1270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>
                <a:solidFill>
                  <a:srgbClr val="DCE6F5"/>
                </a:solidFill>
                <a:latin typeface="Arial"/>
              </a:defRPr>
            </a:pPr>
            <a:r>
              <a:t>⚡ Gemma 4 E2B via LiteRT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4846320"/>
            <a:ext cx="2011680" cy="384048"/>
          </a:xfrm>
          <a:prstGeom prst="roundRect">
            <a:avLst/>
          </a:prstGeom>
          <a:solidFill>
            <a:srgbClr val="1A1F2A"/>
          </a:solidFill>
          <a:ln w="1270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>
                <a:solidFill>
                  <a:srgbClr val="DCE6F5"/>
                </a:solidFill>
                <a:latin typeface="Arial"/>
              </a:defRPr>
            </a:pPr>
            <a:r>
              <a:t>📚 Verbatim Source Citations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4846320"/>
            <a:ext cx="2011680" cy="384048"/>
          </a:xfrm>
          <a:prstGeom prst="roundRect">
            <a:avLst/>
          </a:prstGeom>
          <a:solidFill>
            <a:srgbClr val="1A1F2A"/>
          </a:solidFill>
          <a:ln w="1270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>
                <a:solidFill>
                  <a:srgbClr val="DCE6F5"/>
                </a:solidFill>
                <a:latin typeface="Arial"/>
              </a:defRPr>
            </a:pPr>
            <a:r>
              <a:t>🧠 SuperMemo SM-2</a:t>
            </a:r>
          </a:p>
        </p:txBody>
      </p:sp>
      <p:pic>
        <p:nvPicPr>
          <p:cNvPr id="9" name="Picture 8" descr="01_start_screen_fra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822960"/>
            <a:ext cx="21945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01 · THE PROBLEM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Millions of Students Cannot Rely on Cloud AI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Cloud-based learning platforms collapse the moment connectivity drops.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📶 Connectivity &amp; Latency Barriers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High data tariffs and spotty mobile reception across rural schools, transit commutes, and dormitories.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Cloud AI tools (ChatGPT, Claude, Gemini Web) completely fail when data runs out or signal is lost.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Students are cut off from AI study tools right when they need exam revision the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383280" cy="393192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💳 Prohibitive Subscription Paywalls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$20/month subscription fees are unattainable for mainstream students in developing economies.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Proprietary paywalls gatekeep high-quality tutoring behind credit cards and recurring payments.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Educational inequality widens as only connected students access AI assistance.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3383280" cy="393192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Data Privacy &amp; Cloud Surveillance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Uploading student lecture notes, essays, and study materials creates unmonitored cloud data harvesting.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No data sovereignty: student materials are retained on external corporate servers.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Institutional compliance issues when handling proprietary textbooks or curriculum syllabi.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080760"/>
            <a:ext cx="10515600" cy="502920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8DE3B5"/>
                </a:solidFill>
              </a:defRPr>
            </a:pPr>
            <a:r>
              <a:t>💡 Fundamental Principle: Quality academic assistance should never be contingent on having a cellular data connection.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02 · THE SOLUTION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Gemce: On-Device AI Study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Sovereign on-device intelligence executing Google's Gemma 4 E2B via LiteRT-LM.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🔒 100% Local Inference &amp; Offline Guarantee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Over 2.4 GB of quantized model weights stored permanently in on-device storage.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Zero outbound network requests during study sessions. No tracking, telemetry, or cloud dependencies.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⚡ Google LiteRT-LM GPU Accelerated Engine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Direct execution on Android OpenCL GPU backend (Adreno / Mali).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Sub-second Time-To-First-Token and smooth streaming token generation on modern Android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📦 Persistent Weights &amp; Zero-AI Fallback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Model file survives app updates, cache clears, and uninstalls.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Manual flashcards, deck browsing, and SM-2 scheduling remain 100% functional even with zero AI.</a:t>
            </a:r>
          </a:p>
        </p:txBody>
      </p:sp>
      <p:pic>
        <p:nvPicPr>
          <p:cNvPr id="8" name="Picture 7" descr="05_settings_engine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148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03 · CURRICULUM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Tailored Rigor Across Disciplines &amp; Languages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Calibrates explanation depth, curriculum context, and vocabulary to the student.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🎓 Dynamic Academic Level Calibration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Calibrates from Junior High, Senior High tracks (GAS, HUMSS, ABM, STEM, TVL, Arts) to College majors.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Aligns technical vocabulary and pedagogical depth to university programs like Accountancy, Nursing, Education, and Engineering.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🌐 Multilingual Academic Tutoring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Speaks English, Filipino (Tagalog), Taglish, and Binisaya (Cebuano).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Students understand tough conceptual mechanisms in their natural, conversational tongue.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📖 Packaged Reading Typography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Bundles packaged TrueType fonts: Calibri (modern), Serif (editorial), and Monospace (STEM).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System-wide font selection optimizes legibility for dense textbook reading sessions.</a:t>
            </a:r>
          </a:p>
        </p:txBody>
      </p:sp>
      <p:pic>
        <p:nvPicPr>
          <p:cNvPr id="8" name="Picture 7" descr="04_profile_dialog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148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04 · STUDY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Adaptive Study Hub &amp; Intelligent Diagnosis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Transforms raw syllabus topics and lecture notes into goal-oriented learning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749039" cy="173736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⚡ 1. Rapid Recall &amp; Formulas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Diagnoses active retention goals.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Prescribes Spaced Repetition Flashcards powered by SuperMemo SM-2.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011680"/>
            <a:ext cx="3749039" cy="173736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🎯 2. Exam Practice &amp; Quizzes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Diagnoses test preparation goals.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Prescribes instant Multiple-Choice Questions with rationale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749039" cy="173736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🧠 3. Deep Problem Solving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Diagnoses deep conceptual synthesis.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Prescribes short-answer essay questions evaluated against rubrics.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3931920"/>
            <a:ext cx="3749039" cy="173736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📖 4. Comprehensive Reviewer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Diagnoses structured pre-exam cramming.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Prescribes high-yield bulleted concept summaries with source quotes.</a:t>
            </a:r>
          </a:p>
        </p:txBody>
      </p:sp>
      <p:pic>
        <p:nvPicPr>
          <p:cNvPr id="9" name="Picture 8" descr="08_hub_earth_selected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148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05 · ACTIVE RECALL &amp;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Evidence-Grounded Flashcards with SuperMemo SM-2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Combines the gold-standard spaced repetition algorithm with zero-hallucination provenance.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🧠 SuperMemo SM-2 Spaced Repetition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Automatically calculates ease factor (EF) and repetition intervals (I_n).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Self-evaluations: Again (1d), Hard (3d), Good (4d), Easy (6d) optimize permanent retention.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🚫 Strict Negative Prompt Constraints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Explicitly forbids generic meta-questions like 'What was the user intended to study?'.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Rigorously tests concrete academic terms: Mitochondria, ATP synthesis, cellular respiration.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📖 Verbatim Evidence &amp; Source Grounding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Card back highlights verbatim source sentences and section provenance tags.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Guarantees 100% accurate studying without fabricated AI hallucinations.</a:t>
            </a:r>
          </a:p>
        </p:txBody>
      </p:sp>
      <p:pic>
        <p:nvPicPr>
          <p:cNvPr id="8" name="Picture 7" descr="09_flashcard_question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2103120" cy="4754880"/>
          </a:xfrm>
          <a:prstGeom prst="rect">
            <a:avLst/>
          </a:prstGeom>
        </p:spPr>
      </p:pic>
      <p:pic>
        <p:nvPicPr>
          <p:cNvPr id="9" name="Picture 8" descr="10_flashcard_answer_fra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645920"/>
            <a:ext cx="21031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06 · EXAM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High-Yield Reviewers &amp; Verified Practice Quizzes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Synthesizes complex notes into structured study sheets and scored assessments.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📝 High-Yield Topic Synthesis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Organizes dense textbook chapters into bulleted key principles, classifications, and definitions.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Ideal for rapid revision before major prelim, midterm, and board examinations.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🏷️ Provenance &amp; Verifiability Badges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Cites exact source sentences for every generated key concept.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External facts added by the model are visibly marked [unverified] for complete transparency.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621792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🎯 Multiple-Choice Exam Practice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Generates rigorous 4-option MCQs testing conceptual understanding.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Instant grading with detailed explanations on why distractor options are incorrect.</a:t>
            </a:r>
          </a:p>
        </p:txBody>
      </p:sp>
      <p:pic>
        <p:nvPicPr>
          <p:cNvPr id="8" name="Picture 7" descr="12_mcq_quiz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2103120" cy="4754880"/>
          </a:xfrm>
          <a:prstGeom prst="rect">
            <a:avLst/>
          </a:prstGeom>
        </p:spPr>
      </p:pic>
      <p:pic>
        <p:nvPicPr>
          <p:cNvPr id="9" name="Picture 8" descr="12_reviewer_active_fra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645920"/>
            <a:ext cx="21031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07 · INTERACTIVE TUTORING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Real-Time Conceptual Q&amp;A in Airplane Mode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Interactive academic mentor explaining tough mechanisms whenever curiosity strikes.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🌍 Universal Multidisciplinary Grounding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Mentors across Natural Sciences, Discrete Mathematics, World History, Rizal, Law, and Medicine.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Resolves complex queries: e.g. rock cycle mechanisms, truth tables, and historical contexts.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📑 Rich Markdown &amp; Code Formatting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Native Jetpack Compose Markdown rendering with formatted tables, lists, and KaTeX math formulas.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Clean visual hierarchy avoids walls of unstructured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💾 Multi-Session Local Memory &amp; Tabs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Conversation history persisted securely on device with quick topic tabs.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Zero cloud leakage: student inquiries never leave device memory.</a:t>
            </a:r>
          </a:p>
        </p:txBody>
      </p:sp>
      <p:pic>
        <p:nvPicPr>
          <p:cNvPr id="8" name="Picture 7" descr="14_chat_response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148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08 · ENGINEERING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Engineered for Native Android Performance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Clean MVVM architecture built with modern Kotlin and on-device machine learning.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12080" cy="1874519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🎨 UI &amp; Presentation Layer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100% Jetpack Compose + Material 3.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Dark / Light / System theme switching.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Edge-to-edge support across Android 14+.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Integrated TrueType fonts (Calibri, Serif, Mono).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1874519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🤖 On-Device AI Engine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Google LiteRT-LM runtime engine.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Quantized Gemma 4 E2B weights.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OpenCL / Adreno GPU acceleration.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Decoupled LlmEngine with test FakeEngine.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874519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📥 Document Ingestion Pipeline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Offline Google ML Kit Text Recognition v2.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Pure local PDF extraction via pdfbox-android.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Normalizes photos, PDF, DOCX, and text paste.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Clean section parsing with verbatim linking.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874519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💾 Local Persistence &amp; Reliability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Android Room Database + SharedPreferences.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WorkManager for background model tasks.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Model stored in persistent app storage.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Zero network calls beyond weight download.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108960" cy="329184"/>
          </a:xfrm>
          <a:prstGeom prst="roundRect">
            <a:avLst/>
          </a:prstGeom>
          <a:solidFill>
            <a:srgbClr val="162D22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000" b="1">
                <a:solidFill>
                  <a:srgbClr val="3DDC84"/>
                </a:solidFill>
                <a:latin typeface="Arial"/>
              </a:defRPr>
            </a:pPr>
            <a:r>
              <a:t>09 · ROADMAP &amp; 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Democratizing AI for Every Student Everywhere</a:t>
            </a:r>
          </a:p>
          <a:p>
            <a:pPr>
              <a:spcBef>
                <a:spcPts val="400"/>
              </a:spcBef>
              <a:defRPr sz="1300">
                <a:solidFill>
                  <a:srgbClr val="A5AFBE"/>
                </a:solidFill>
                <a:latin typeface="Arial"/>
              </a:defRPr>
            </a:pPr>
            <a:r>
              <a:t>Gemce is open-source, fully verified on physical hardware, and ready for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✅ Shipped MVP Milestones (v0.2.2)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Full compliance with PLAN.md architecture: OCR/PDF ingest, SM-2 flashcards, MCQs, Reviewers, and Ask Gemce chat.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Verified on Android 14 (OPPO Reno12 F 5G) with Google Gemma 4 E2B model weights.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🚀 Immediate Roadmap (v0.3)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Anki Deck (.apkg) bidirectional export &amp; import.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Audio flashcard review mode (hands-free offline playback).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Camera instant reviewer scanner with camera auto-cropping.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7863840" cy="1234440"/>
          </a:xfrm>
          <a:prstGeom prst="roundRect">
            <a:avLst/>
          </a:prstGeom>
          <a:solidFill>
            <a:srgbClr val="181B24"/>
          </a:solidFill>
          <a:ln w="12700">
            <a:solidFill>
              <a:srgbClr val="2E35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📲 Open Source &amp; Distribution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GitHub Repository: github.com/meloervy/appbuild.gemce</a:t>
            </a:r>
          </a:p>
          <a:p>
            <a:pPr>
              <a:spcAft>
                <a:spcPts val="400"/>
              </a:spcAft>
              <a:defRPr sz="1200">
                <a:solidFill>
                  <a:srgbClr val="A5AFBE"/>
                </a:solidFill>
                <a:latin typeface="Arial"/>
              </a:defRPr>
            </a:pPr>
            <a:r>
              <a:t>• Installable APK: Packaged via GitHub Actions CI/CD (Gemce-v0.2.2.apk).</a:t>
            </a:r>
          </a:p>
        </p:txBody>
      </p:sp>
      <p:pic>
        <p:nvPicPr>
          <p:cNvPr id="8" name="Picture 7" descr="06_settings_about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148840" cy="4754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